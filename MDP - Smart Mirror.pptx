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 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Garet Ultra-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495940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813336" y="4402757"/>
            <a:ext cx="1938806" cy="2084738"/>
          </a:xfrm>
          <a:custGeom>
            <a:avLst/>
            <a:gdLst/>
            <a:ahLst/>
            <a:cxnLst/>
            <a:rect r="r" b="b" t="t" l="l"/>
            <a:pathLst>
              <a:path h="2084738" w="1938806">
                <a:moveTo>
                  <a:pt x="0" y="0"/>
                </a:moveTo>
                <a:lnTo>
                  <a:pt x="1938807" y="0"/>
                </a:lnTo>
                <a:lnTo>
                  <a:pt x="1938807" y="2084738"/>
                </a:lnTo>
                <a:lnTo>
                  <a:pt x="0" y="2084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5857" y="3247243"/>
            <a:ext cx="15216286" cy="88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75"/>
              </a:lnSpc>
              <a:spcBef>
                <a:spcPct val="0"/>
              </a:spcBef>
            </a:pPr>
            <a:r>
              <a:rPr lang="en-US" b="true" sz="7500" spc="-3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Multi-disciplinary Project Review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74839" y="7269449"/>
            <a:ext cx="4276246" cy="146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</a:pPr>
            <a:r>
              <a:rPr lang="en-US" b="true" sz="2000" spc="-21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SHAW N SHAIBU CHERIAN - 26BCE1820</a:t>
            </a:r>
          </a:p>
          <a:p>
            <a:pPr algn="r">
              <a:lnSpc>
                <a:spcPts val="2380"/>
              </a:lnSpc>
            </a:pPr>
            <a:r>
              <a:rPr lang="en-US" b="true" sz="2000" spc="-21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NITHIN SANDESH S - 26BCE1821</a:t>
            </a:r>
          </a:p>
          <a:p>
            <a:pPr algn="r">
              <a:lnSpc>
                <a:spcPts val="2380"/>
              </a:lnSpc>
            </a:pPr>
            <a:r>
              <a:rPr lang="en-US" b="true" sz="2000" spc="-21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AAKASH PON ALAGAPPAN - 26BCE5637</a:t>
            </a:r>
          </a:p>
          <a:p>
            <a:pPr algn="r">
              <a:lnSpc>
                <a:spcPts val="2380"/>
              </a:lnSpc>
            </a:pPr>
            <a:r>
              <a:rPr lang="en-US" b="true" sz="2000" spc="-21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DHANARANJANI R - 26BEC1354</a:t>
            </a:r>
          </a:p>
          <a:p>
            <a:pPr algn="r" marL="0" indent="0" lvl="0">
              <a:lnSpc>
                <a:spcPts val="2380"/>
              </a:lnSpc>
            </a:pPr>
            <a:r>
              <a:rPr lang="en-US" b="true" sz="2000" spc="-21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KAVYA S - 26BFT1001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07877" y="4775199"/>
            <a:ext cx="907224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31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Smart Mirror Body Measurement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495940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228352" y="2443399"/>
            <a:ext cx="5030948" cy="5096110"/>
            <a:chOff x="0" y="0"/>
            <a:chExt cx="565683" cy="573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5683" cy="573010"/>
            </a:xfrm>
            <a:custGeom>
              <a:avLst/>
              <a:gdLst/>
              <a:ahLst/>
              <a:cxnLst/>
              <a:rect r="r" b="b" t="t" l="l"/>
              <a:pathLst>
                <a:path h="573010" w="565683">
                  <a:moveTo>
                    <a:pt x="0" y="0"/>
                  </a:moveTo>
                  <a:lnTo>
                    <a:pt x="565683" y="0"/>
                  </a:lnTo>
                  <a:lnTo>
                    <a:pt x="565683" y="573010"/>
                  </a:lnTo>
                  <a:lnTo>
                    <a:pt x="0" y="573010"/>
                  </a:lnTo>
                  <a:close/>
                </a:path>
              </a:pathLst>
            </a:custGeom>
            <a:blipFill>
              <a:blip r:embed="rId3"/>
              <a:stretch>
                <a:fillRect l="-647" t="0" r="-64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379165"/>
            <a:ext cx="7830092" cy="148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25"/>
              </a:lnSpc>
            </a:pPr>
            <a:r>
              <a:rPr lang="en-US" sz="12500" spc="-625" b="true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Goal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0456" y="3961608"/>
            <a:ext cx="10044165" cy="165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b="true" sz="1899" spc="-13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Goal: C</a:t>
            </a:r>
            <a:r>
              <a:rPr lang="en-US" b="true" sz="1899" spc="-136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ontact-free, instant body measurements with zero manual input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b="true" sz="1899" spc="-136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Input: Two standard 1080p webcams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b="true" sz="1899" spc="-136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Processing: Computer vision + AI-based pose estimation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b="true" sz="1899" spc="-136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Output: Real-time body dimensions in centimeters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b="true" sz="1899" spc="-136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Design principle: Low-cost, privacy-conscious, fully automated</a:t>
            </a:r>
          </a:p>
          <a:p>
            <a:pPr algn="l" marL="0" indent="0" lvl="0">
              <a:lnSpc>
                <a:spcPts val="220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674351"/>
            <a:ext cx="9627677" cy="370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2"/>
              </a:lnSpc>
              <a:spcBef>
                <a:spcPct val="0"/>
              </a:spcBef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system transforms an ordinary mirror into a computer-vision-based measurement station.</a:t>
            </a:r>
          </a:p>
          <a:p>
            <a:pPr algn="l">
              <a:lnSpc>
                <a:spcPts val="2292"/>
              </a:lnSpc>
              <a:spcBef>
                <a:spcPct val="0"/>
              </a:spcBef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Instead of using a measuring tape or expensive depth scanner, two cameras observe the user from different viewpoints. The software identifies body landmarks and combines information from both cameras to estimate dimensions such as:</a:t>
            </a:r>
          </a:p>
          <a:p>
            <a:pPr algn="l" marL="353461" indent="-176731" lvl="1">
              <a:lnSpc>
                <a:spcPts val="2292"/>
              </a:lnSpc>
              <a:buFont typeface="Arial"/>
              <a:buChar char="•"/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Shoulder width</a:t>
            </a:r>
          </a:p>
          <a:p>
            <a:pPr algn="l" marL="353461" indent="-176731" lvl="1">
              <a:lnSpc>
                <a:spcPts val="2292"/>
              </a:lnSpc>
              <a:buFont typeface="Arial"/>
              <a:buChar char="•"/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Arm length</a:t>
            </a:r>
          </a:p>
          <a:p>
            <a:pPr algn="l" marL="353461" indent="-176731" lvl="1">
              <a:lnSpc>
                <a:spcPts val="2292"/>
              </a:lnSpc>
              <a:buFont typeface="Arial"/>
              <a:buChar char="•"/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Waist width</a:t>
            </a:r>
          </a:p>
          <a:p>
            <a:pPr algn="l" marL="353461" indent="-176731" lvl="1">
              <a:lnSpc>
                <a:spcPts val="2292"/>
              </a:lnSpc>
              <a:buFont typeface="Arial"/>
              <a:buChar char="•"/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Hip width</a:t>
            </a:r>
          </a:p>
          <a:p>
            <a:pPr algn="l" marL="353461" indent="-176731" lvl="1">
              <a:lnSpc>
                <a:spcPts val="2292"/>
              </a:lnSpc>
              <a:buFont typeface="Arial"/>
              <a:buChar char="•"/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Inseam</a:t>
            </a:r>
          </a:p>
          <a:p>
            <a:pPr algn="l" marL="353461" indent="-176731" lvl="1">
              <a:lnSpc>
                <a:spcPts val="2292"/>
              </a:lnSpc>
              <a:buFont typeface="Arial"/>
              <a:buChar char="•"/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Overall height</a:t>
            </a:r>
          </a:p>
          <a:p>
            <a:pPr algn="l">
              <a:lnSpc>
                <a:spcPts val="2292"/>
              </a:lnSpc>
              <a:spcBef>
                <a:spcPct val="0"/>
              </a:spcBef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Estimated chest/waist/hip circumference</a:t>
            </a:r>
          </a:p>
          <a:p>
            <a:pPr algn="l">
              <a:lnSpc>
                <a:spcPts val="2292"/>
              </a:lnSpc>
              <a:spcBef>
                <a:spcPct val="0"/>
              </a:spcBef>
            </a:pPr>
            <a:r>
              <a:rPr lang="en-US" b="true" sz="1637" spc="-12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important idea is that the user does not have to enter height, weight, distance, or measurements manually.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495940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023542" y="2232121"/>
            <a:ext cx="6235758" cy="187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5628" spc="-281" b="true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Why Do We Need Automated Body Measurement?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89625"/>
            <a:ext cx="9370046" cy="606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1. Size Uncertainty</a:t>
            </a:r>
          </a:p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Clothing sizes vary between brands, making it difficult for customers to select the correct size.</a:t>
            </a:r>
          </a:p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2. Manual Measurement</a:t>
            </a:r>
          </a:p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Traditional measurement requires:</a:t>
            </a:r>
          </a:p>
          <a:p>
            <a:pPr algn="l" marL="573021" indent="-286511" lvl="1">
              <a:lnSpc>
                <a:spcPts val="3715"/>
              </a:lnSpc>
              <a:buFont typeface="Arial"/>
              <a:buChar char="•"/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Measuring tape</a:t>
            </a:r>
          </a:p>
          <a:p>
            <a:pPr algn="l" marL="573021" indent="-286511" lvl="1">
              <a:lnSpc>
                <a:spcPts val="3715"/>
              </a:lnSpc>
              <a:buFont typeface="Arial"/>
              <a:buChar char="•"/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Staff assistance</a:t>
            </a:r>
          </a:p>
          <a:p>
            <a:pPr algn="l" marL="573021" indent="-286511" lvl="1">
              <a:lnSpc>
                <a:spcPts val="3715"/>
              </a:lnSpc>
              <a:buFont typeface="Arial"/>
              <a:buChar char="•"/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Multiple measurements</a:t>
            </a:r>
          </a:p>
          <a:p>
            <a:pPr algn="l" marL="573021" indent="-286511" lvl="1">
              <a:lnSpc>
                <a:spcPts val="3715"/>
              </a:lnSpc>
              <a:buFont typeface="Arial"/>
              <a:buChar char="•"/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Time</a:t>
            </a:r>
          </a:p>
          <a:p>
            <a:pPr algn="l" marL="573021" indent="-286511" lvl="1">
              <a:lnSpc>
                <a:spcPts val="3715"/>
              </a:lnSpc>
              <a:buFont typeface="Arial"/>
              <a:buChar char="•"/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Physical interaction</a:t>
            </a:r>
          </a:p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3. Expensive Scanning Technology</a:t>
            </a:r>
          </a:p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sz="2654" spc="-2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         Professional body scanners require specialized sensors and infrastructure and can cost thousands of dollars.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495940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514486" y="2492373"/>
            <a:ext cx="5527932" cy="6372716"/>
            <a:chOff x="0" y="0"/>
            <a:chExt cx="1455916" cy="1678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5916" cy="1678411"/>
            </a:xfrm>
            <a:custGeom>
              <a:avLst/>
              <a:gdLst/>
              <a:ahLst/>
              <a:cxnLst/>
              <a:rect r="r" b="b" t="t" l="l"/>
              <a:pathLst>
                <a:path h="1678411" w="1455916">
                  <a:moveTo>
                    <a:pt x="0" y="0"/>
                  </a:moveTo>
                  <a:lnTo>
                    <a:pt x="1455916" y="0"/>
                  </a:lnTo>
                  <a:lnTo>
                    <a:pt x="1455916" y="1678411"/>
                  </a:lnTo>
                  <a:lnTo>
                    <a:pt x="0" y="1678411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55916" cy="1716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344219" y="2764679"/>
          <a:ext cx="4915081" cy="6128785"/>
        </p:xfrm>
        <a:graphic>
          <a:graphicData uri="http://schemas.openxmlformats.org/drawingml/2006/table">
            <a:tbl>
              <a:tblPr/>
              <a:tblGrid>
                <a:gridCol w="2405777"/>
                <a:gridCol w="2509304"/>
              </a:tblGrid>
              <a:tr h="843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Traditional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Smart Mirror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Manual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Automated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Contact-based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Contact-free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Expensive Scanner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Standard webcams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User 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Minimal 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23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Dedicated Equipment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Simple Kiosk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40842" y="5775643"/>
            <a:ext cx="4976477" cy="314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spc="-300" b="true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A Low-Cost, Contact-Free Measurement Kiosk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28820" y="3253268"/>
            <a:ext cx="4308831" cy="540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8"/>
              </a:lnSpc>
            </a:pPr>
            <a:r>
              <a:rPr lang="en-US" sz="1800" spc="-12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Public</a:t>
            </a: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Kiosk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Installed on the open retail floor, allowing users to remain fully clothed.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Zero Manual Input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system automatically determines:</a:t>
            </a:r>
          </a:p>
          <a:p>
            <a:pPr algn="l" marL="388620" indent="-194310" lvl="1">
              <a:lnSpc>
                <a:spcPts val="2088"/>
              </a:lnSpc>
              <a:buFont typeface="Arial"/>
              <a:buChar char="•"/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position</a:t>
            </a:r>
          </a:p>
          <a:p>
            <a:pPr algn="l" marL="388620" indent="-194310" lvl="1">
              <a:lnSpc>
                <a:spcPts val="2088"/>
              </a:lnSpc>
              <a:buFont typeface="Arial"/>
              <a:buChar char="•"/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Camera distance</a:t>
            </a:r>
          </a:p>
          <a:p>
            <a:pPr algn="l" marL="388620" indent="-194310" lvl="1">
              <a:lnSpc>
                <a:spcPts val="2088"/>
              </a:lnSpc>
              <a:buFont typeface="Arial"/>
              <a:buChar char="•"/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Body landmarks</a:t>
            </a:r>
          </a:p>
          <a:p>
            <a:pPr algn="l" marL="388620" indent="-194310" lvl="1">
              <a:lnSpc>
                <a:spcPts val="2088"/>
              </a:lnSpc>
              <a:buFont typeface="Arial"/>
              <a:buChar char="•"/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Pixel-to-real-world scale</a:t>
            </a:r>
          </a:p>
          <a:p>
            <a:pPr algn="l" marL="388620" indent="-194310" lvl="1">
              <a:lnSpc>
                <a:spcPts val="2088"/>
              </a:lnSpc>
              <a:buFont typeface="Arial"/>
              <a:buChar char="•"/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Body dimensions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Privacy by Design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Camera → RAM → Processing → Measurements → Frame discarded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prototype is designed for real-time processing without persistent video storage.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Low-Cost Hardware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 webcams + mirror + laptop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Approximately:</a:t>
            </a:r>
          </a:p>
          <a:p>
            <a:pPr algn="l" marL="0" indent="0" lvl="0">
              <a:lnSpc>
                <a:spcPts val="2088"/>
              </a:lnSpc>
            </a:pPr>
            <a:r>
              <a:rPr lang="en-US" sz="1800" spc="-129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$110 / ₹9,100</a:t>
            </a:r>
          </a:p>
          <a:p>
            <a:pPr algn="l" marL="0" indent="0" lvl="0">
              <a:lnSpc>
                <a:spcPts val="208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837774" y="2847100"/>
            <a:ext cx="1545193" cy="32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51"/>
              </a:lnSpc>
            </a:pPr>
            <a:r>
              <a:rPr lang="en-US" b="true" sz="2199" spc="-15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Structure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44219" y="2166872"/>
            <a:ext cx="1950800" cy="32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51"/>
              </a:lnSpc>
            </a:pPr>
            <a:r>
              <a:rPr lang="en-US" b="true" sz="2199" spc="-15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Comparison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4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495940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430151" y="3805595"/>
            <a:ext cx="5180069" cy="5180069"/>
          </a:xfrm>
          <a:custGeom>
            <a:avLst/>
            <a:gdLst/>
            <a:ahLst/>
            <a:cxnLst/>
            <a:rect r="r" b="b" t="t" l="l"/>
            <a:pathLst>
              <a:path h="5180069" w="5180069">
                <a:moveTo>
                  <a:pt x="0" y="0"/>
                </a:moveTo>
                <a:lnTo>
                  <a:pt x="5180069" y="0"/>
                </a:lnTo>
                <a:lnTo>
                  <a:pt x="5180069" y="5180069"/>
                </a:lnTo>
                <a:lnTo>
                  <a:pt x="0" y="5180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14771" y="2146851"/>
            <a:ext cx="7744529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6000" spc="-300" b="true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Simple Hardware, Carefully Positioned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9329" y="2247118"/>
            <a:ext cx="4760232" cy="6114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7"/>
              </a:lnSpc>
            </a:pPr>
            <a:r>
              <a:rPr lang="en-US" sz="1911" spc="-13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Mirr</a:t>
            </a: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or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180 cm × 60 cm standard glass mirror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Top-Left Camera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Height: 1.6 m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Captures:</a:t>
            </a:r>
          </a:p>
          <a:p>
            <a:pPr algn="l" marL="412726" indent="-206363" lvl="1">
              <a:lnSpc>
                <a:spcPts val="2217"/>
              </a:lnSpc>
              <a:buFont typeface="Arial"/>
              <a:buChar char="•"/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Head</a:t>
            </a:r>
          </a:p>
          <a:p>
            <a:pPr algn="l" marL="412726" indent="-206363" lvl="1">
              <a:lnSpc>
                <a:spcPts val="2217"/>
              </a:lnSpc>
              <a:buFont typeface="Arial"/>
              <a:buChar char="•"/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Shoulders</a:t>
            </a:r>
          </a:p>
          <a:p>
            <a:pPr algn="l" marL="412726" indent="-206363" lvl="1">
              <a:lnSpc>
                <a:spcPts val="2217"/>
              </a:lnSpc>
              <a:buFont typeface="Arial"/>
              <a:buChar char="•"/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Arms</a:t>
            </a:r>
          </a:p>
          <a:p>
            <a:pPr algn="l" marL="412726" indent="-206363" lvl="1">
              <a:lnSpc>
                <a:spcPts val="2217"/>
              </a:lnSpc>
              <a:buFont typeface="Arial"/>
              <a:buChar char="•"/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Upper body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Tilted slightly downward and inward.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Bottom-Right Camera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Height: 0.85 m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Captures:</a:t>
            </a:r>
          </a:p>
          <a:p>
            <a:pPr algn="l" marL="412726" indent="-206363" lvl="1">
              <a:lnSpc>
                <a:spcPts val="2217"/>
              </a:lnSpc>
              <a:buFont typeface="Arial"/>
              <a:buChar char="•"/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Waist</a:t>
            </a:r>
          </a:p>
          <a:p>
            <a:pPr algn="l" marL="412726" indent="-206363" lvl="1">
              <a:lnSpc>
                <a:spcPts val="2217"/>
              </a:lnSpc>
              <a:buFont typeface="Arial"/>
              <a:buChar char="•"/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Hips</a:t>
            </a:r>
          </a:p>
          <a:p>
            <a:pPr algn="l" marL="412726" indent="-206363" lvl="1">
              <a:lnSpc>
                <a:spcPts val="2217"/>
              </a:lnSpc>
              <a:buFont typeface="Arial"/>
              <a:buChar char="•"/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Legs</a:t>
            </a:r>
          </a:p>
          <a:p>
            <a:pPr algn="l" marL="412726" indent="-206363" lvl="1">
              <a:lnSpc>
                <a:spcPts val="2217"/>
              </a:lnSpc>
              <a:buFont typeface="Arial"/>
              <a:buChar char="•"/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Feet</a:t>
            </a:r>
          </a:p>
          <a:p>
            <a:pPr algn="l" marL="412726" indent="-206363" lvl="1">
              <a:lnSpc>
                <a:spcPts val="2217"/>
              </a:lnSpc>
              <a:buFont typeface="Arial"/>
              <a:buChar char="•"/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Heel position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Tilted slightly upward and inward.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Distance</a:t>
            </a:r>
          </a:p>
          <a:p>
            <a:pPr algn="l" marL="0" indent="0" lvl="0">
              <a:lnSpc>
                <a:spcPts val="2217"/>
              </a:lnSpc>
            </a:pPr>
            <a:r>
              <a:rPr lang="en-US" sz="1911" spc="-137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1.3–1.5 m</a:t>
            </a:r>
          </a:p>
          <a:p>
            <a:pPr algn="l" marL="0" indent="0" lvl="0">
              <a:lnSpc>
                <a:spcPts val="221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5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495940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819129" y="3230218"/>
            <a:ext cx="5157074" cy="629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41"/>
              </a:lnSpc>
            </a:pPr>
            <a:r>
              <a:rPr lang="en-US" b="true" sz="2880" spc="-20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ipeline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Dual Cameras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Video Frames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MediaPipe Pose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33 Body Landmarks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Calibration + Scale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Measurement Engine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ctr" marL="0" indent="0" lvl="0">
              <a:lnSpc>
                <a:spcPts val="3341"/>
              </a:lnSpc>
            </a:pPr>
            <a:r>
              <a:rPr lang="en-US" b="true" sz="2880" spc="-207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Body Measurements</a:t>
            </a:r>
          </a:p>
          <a:p>
            <a:pPr algn="ctr" marL="0" indent="0" lvl="0">
              <a:lnSpc>
                <a:spcPts val="334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42341" y="4031606"/>
            <a:ext cx="5025643" cy="405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8"/>
              </a:lnSpc>
            </a:pPr>
            <a:r>
              <a:rPr lang="en-US" b="true" sz="2963" spc="-21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Auto Scaling:</a:t>
            </a:r>
          </a:p>
          <a:p>
            <a:pPr algn="just">
              <a:lnSpc>
                <a:spcPts val="3438"/>
              </a:lnSpc>
            </a:pPr>
          </a:p>
          <a:p>
            <a:pPr algn="just" marL="0" indent="0" lvl="0">
              <a:lnSpc>
                <a:spcPts val="2510"/>
              </a:lnSpc>
            </a:pPr>
            <a:r>
              <a:rPr lang="en-US" sz="2163" spc="-1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163" spc="-155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 bottom camera observes the user's feet/heel position.</a:t>
            </a:r>
          </a:p>
          <a:p>
            <a:pPr algn="just" marL="0" indent="0" lvl="0">
              <a:lnSpc>
                <a:spcPts val="2510"/>
              </a:lnSpc>
            </a:pPr>
            <a:r>
              <a:rPr lang="en-US" sz="2163" spc="-155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Using the camera's known geometry and the heel's position, the system estimates:</a:t>
            </a:r>
          </a:p>
          <a:p>
            <a:pPr algn="just" marL="0" indent="0" lvl="0">
              <a:lnSpc>
                <a:spcPts val="2510"/>
              </a:lnSpc>
            </a:pPr>
            <a:r>
              <a:rPr lang="en-US" sz="2163" spc="-155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Z = camera-to-user distance</a:t>
            </a:r>
          </a:p>
          <a:p>
            <a:pPr algn="just" marL="0" indent="0" lvl="0">
              <a:lnSpc>
                <a:spcPts val="2510"/>
              </a:lnSpc>
            </a:pPr>
            <a:r>
              <a:rPr lang="en-US" sz="2163" spc="-155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This allows conversion between:</a:t>
            </a:r>
          </a:p>
          <a:p>
            <a:pPr algn="just" marL="0" indent="0" lvl="0">
              <a:lnSpc>
                <a:spcPts val="2510"/>
              </a:lnSpc>
            </a:pPr>
            <a:r>
              <a:rPr lang="en-US" sz="2163" spc="-155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pixels → centimeters</a:t>
            </a:r>
          </a:p>
          <a:p>
            <a:pPr algn="just" marL="0" indent="0" lvl="0">
              <a:lnSpc>
                <a:spcPts val="2510"/>
              </a:lnSpc>
            </a:pPr>
            <a:r>
              <a:rPr lang="en-US" sz="2163" spc="-155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without requiring the user to enter their distance manually.</a:t>
            </a:r>
          </a:p>
          <a:p>
            <a:pPr algn="just" marL="0" indent="0" lvl="0">
              <a:lnSpc>
                <a:spcPts val="2858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91197" y="3608817"/>
            <a:ext cx="5527932" cy="4713150"/>
            <a:chOff x="0" y="0"/>
            <a:chExt cx="1455916" cy="12413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5916" cy="1241323"/>
            </a:xfrm>
            <a:custGeom>
              <a:avLst/>
              <a:gdLst/>
              <a:ahLst/>
              <a:cxnLst/>
              <a:rect r="r" b="b" t="t" l="l"/>
              <a:pathLst>
                <a:path h="1241323" w="1455916">
                  <a:moveTo>
                    <a:pt x="0" y="0"/>
                  </a:moveTo>
                  <a:lnTo>
                    <a:pt x="1455916" y="0"/>
                  </a:lnTo>
                  <a:lnTo>
                    <a:pt x="1455916" y="1241323"/>
                  </a:lnTo>
                  <a:lnTo>
                    <a:pt x="0" y="1241323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55916" cy="1279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48050" y="3003540"/>
            <a:ext cx="4499232" cy="6330960"/>
            <a:chOff x="0" y="0"/>
            <a:chExt cx="1184983" cy="16674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4983" cy="1667413"/>
            </a:xfrm>
            <a:custGeom>
              <a:avLst/>
              <a:gdLst/>
              <a:ahLst/>
              <a:cxnLst/>
              <a:rect r="r" b="b" t="t" l="l"/>
              <a:pathLst>
                <a:path h="1667413" w="1184983">
                  <a:moveTo>
                    <a:pt x="0" y="0"/>
                  </a:moveTo>
                  <a:lnTo>
                    <a:pt x="1184983" y="0"/>
                  </a:lnTo>
                  <a:lnTo>
                    <a:pt x="1184983" y="1667413"/>
                  </a:lnTo>
                  <a:lnTo>
                    <a:pt x="0" y="1667413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84983" cy="170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424564" y="4372911"/>
            <a:ext cx="4597542" cy="4114800"/>
          </a:xfrm>
          <a:custGeom>
            <a:avLst/>
            <a:gdLst/>
            <a:ahLst/>
            <a:cxnLst/>
            <a:rect r="r" b="b" t="t" l="l"/>
            <a:pathLst>
              <a:path h="4114800" w="4597542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169615"/>
            <a:ext cx="1158085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6000" spc="-300" b="true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How the Technology Works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6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495940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070023" y="4002262"/>
            <a:ext cx="3415284" cy="4114800"/>
          </a:xfrm>
          <a:custGeom>
            <a:avLst/>
            <a:gdLst/>
            <a:ahLst/>
            <a:cxnLst/>
            <a:rect r="r" b="b" t="t" l="l"/>
            <a:pathLst>
              <a:path h="4114800" w="3415284">
                <a:moveTo>
                  <a:pt x="0" y="0"/>
                </a:moveTo>
                <a:lnTo>
                  <a:pt x="3415284" y="0"/>
                </a:lnTo>
                <a:lnTo>
                  <a:pt x="3415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75662" y="2127742"/>
            <a:ext cx="91836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6000" spc="-300" b="true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The Measurement Math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212265"/>
            <a:ext cx="8735053" cy="357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4"/>
              </a:lnSpc>
            </a:pPr>
            <a:r>
              <a:rPr lang="en-US" sz="2201" spc="-158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For point-to-point measurements:</a:t>
            </a:r>
          </a:p>
          <a:p>
            <a:pPr algn="ctr" marL="0" indent="0" lvl="0">
              <a:lnSpc>
                <a:spcPts val="2554"/>
              </a:lnSpc>
            </a:pPr>
            <a:r>
              <a:rPr lang="en-US" sz="2201" spc="-158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D=(x2−x1)2+(y2−y1)2+(z2−z1)2D=\sqrt{(x2-x1)^2+(y2-y1)^2+(z2-z1)^2}</a:t>
            </a:r>
          </a:p>
          <a:p>
            <a:pPr algn="ctr" marL="0" indent="0" lvl="0">
              <a:lnSpc>
                <a:spcPts val="2554"/>
              </a:lnSpc>
            </a:pPr>
          </a:p>
          <a:p>
            <a:pPr algn="l" marL="0" indent="0" lvl="0">
              <a:lnSpc>
                <a:spcPts val="2554"/>
              </a:lnSpc>
            </a:pPr>
            <a:r>
              <a:rPr lang="en-US" sz="2201" spc="-158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Used for measurements such as:</a:t>
            </a:r>
          </a:p>
          <a:p>
            <a:pPr algn="l" marL="475400" indent="-237700" lvl="1">
              <a:lnSpc>
                <a:spcPts val="2554"/>
              </a:lnSpc>
              <a:buFont typeface="Arial"/>
              <a:buChar char="•"/>
            </a:pPr>
            <a:r>
              <a:rPr lang="en-US" sz="2201" spc="-158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Shoulder width</a:t>
            </a:r>
          </a:p>
          <a:p>
            <a:pPr algn="l" marL="475400" indent="-237700" lvl="1">
              <a:lnSpc>
                <a:spcPts val="2554"/>
              </a:lnSpc>
              <a:buFont typeface="Arial"/>
              <a:buChar char="•"/>
            </a:pPr>
            <a:r>
              <a:rPr lang="en-US" sz="2201" spc="-158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Arm length</a:t>
            </a:r>
          </a:p>
          <a:p>
            <a:pPr algn="l" marL="475400" indent="-237700" lvl="1">
              <a:lnSpc>
                <a:spcPts val="2554"/>
              </a:lnSpc>
              <a:buFont typeface="Arial"/>
              <a:buChar char="•"/>
            </a:pPr>
            <a:r>
              <a:rPr lang="en-US" sz="2201" spc="-158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Inseam</a:t>
            </a:r>
          </a:p>
          <a:p>
            <a:pPr algn="l">
              <a:lnSpc>
                <a:spcPts val="2554"/>
              </a:lnSpc>
            </a:pPr>
          </a:p>
          <a:p>
            <a:pPr algn="ctr" marL="0" indent="0" lvl="0">
              <a:lnSpc>
                <a:spcPts val="2554"/>
              </a:lnSpc>
            </a:pPr>
            <a:r>
              <a:rPr lang="en-US" sz="2201" spc="-158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For circumferences, estimate body depth and approximate the cross-section as an ellipse.</a:t>
            </a:r>
          </a:p>
          <a:p>
            <a:pPr algn="ctr" marL="0" indent="0" lvl="0">
              <a:lnSpc>
                <a:spcPts val="2554"/>
              </a:lnSpc>
            </a:pPr>
            <a:r>
              <a:rPr lang="en-US" sz="2201" spc="-158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37242"/>
            <a:ext cx="6622157" cy="306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3"/>
              </a:lnSpc>
            </a:pPr>
            <a:r>
              <a:rPr lang="en-US" b="true" sz="1899" spc="-13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</a:t>
            </a:r>
            <a:r>
              <a:rPr lang="en-US" b="true" sz="1899" spc="-136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ediaPipe Pose provides 33 body landmarks</a:t>
            </a:r>
            <a:r>
              <a:rPr lang="en-US" sz="1899" spc="-136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, including: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sz="1899" spc="-136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Nose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sz="1899" spc="-136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Shoulders</a:t>
            </a:r>
          </a:p>
          <a:p>
            <a:pPr algn="l" marL="453388" indent="-226694" lvl="1">
              <a:lnSpc>
                <a:spcPts val="2435"/>
              </a:lnSpc>
              <a:buFont typeface="Arial"/>
              <a:buChar char="•"/>
            </a:pPr>
            <a:r>
              <a:rPr lang="en-US" sz="2099" spc="-151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Elbows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sz="1899" spc="-136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Wrists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sz="1899" spc="-136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Hips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sz="1899" spc="-136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Knees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sz="1899" spc="-136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Ankles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sz="1899" spc="-136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Heels</a:t>
            </a:r>
          </a:p>
          <a:p>
            <a:pPr algn="l" marL="410209" indent="-205105" lvl="1">
              <a:lnSpc>
                <a:spcPts val="2203"/>
              </a:lnSpc>
              <a:buFont typeface="Arial"/>
              <a:buChar char="•"/>
            </a:pPr>
            <a:r>
              <a:rPr lang="en-US" sz="1899" spc="-136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Feet</a:t>
            </a:r>
          </a:p>
          <a:p>
            <a:pPr algn="l" marL="0" indent="0" lvl="0">
              <a:lnSpc>
                <a:spcPts val="220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7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038225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394732"/>
            <a:ext cx="8886929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spc="-300" b="true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Tech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05932" y="1242332"/>
            <a:ext cx="8204368" cy="862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Backend</a:t>
            </a:r>
          </a:p>
          <a:p>
            <a:pPr algn="l">
              <a:lnSpc>
                <a:spcPts val="3238"/>
              </a:lnSpc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Python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Controls the complete pr</a:t>
            </a: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ocessing pipeline.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OpenCV</a:t>
            </a:r>
          </a:p>
          <a:p>
            <a:pPr algn="l" marL="499450" indent="-249725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Video capture</a:t>
            </a:r>
          </a:p>
          <a:p>
            <a:pPr algn="l" marL="499450" indent="-249725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Frame processing</a:t>
            </a:r>
          </a:p>
          <a:p>
            <a:pPr algn="l" marL="499450" indent="-249725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Calibration</a:t>
            </a:r>
          </a:p>
          <a:p>
            <a:pPr algn="l" marL="499450" indent="-249725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Image transformations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MediaPipe</a:t>
            </a:r>
          </a:p>
          <a:p>
            <a:pPr algn="l" marL="499450" indent="-249725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Pose detection</a:t>
            </a:r>
          </a:p>
          <a:p>
            <a:pPr algn="l" marL="499450" indent="-249725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Landmark extraction</a:t>
            </a:r>
          </a:p>
          <a:p>
            <a:pPr algn="l" marL="499450" indent="-249725" lvl="1">
              <a:lnSpc>
                <a:spcPts val="323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Body tracking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FastAPI + WebSocket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Provides continuous communication between the measurement engine and frontend.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Frontend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Dark-mode dashboard displaying live measurements in centimeters.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Performance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  <a:r>
              <a:rPr lang="en-US" sz="2313" spc="-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Target: ~30 FPS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24823" y="3184390"/>
            <a:ext cx="2631825" cy="2394961"/>
          </a:xfrm>
          <a:custGeom>
            <a:avLst/>
            <a:gdLst/>
            <a:ahLst/>
            <a:cxnLst/>
            <a:rect r="r" b="b" t="t" l="l"/>
            <a:pathLst>
              <a:path h="2394961" w="2631825">
                <a:moveTo>
                  <a:pt x="0" y="0"/>
                </a:moveTo>
                <a:lnTo>
                  <a:pt x="2631825" y="0"/>
                </a:lnTo>
                <a:lnTo>
                  <a:pt x="2631825" y="2394960"/>
                </a:lnTo>
                <a:lnTo>
                  <a:pt x="0" y="2394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210072"/>
            <a:ext cx="6481279" cy="753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6"/>
              </a:lnSpc>
            </a:pP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Webcams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 ↓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OpenCV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 ↓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MediaPipe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 ↓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Measurement Engine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 ↓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FastAPI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 ↓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WebSocket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 ↓</a:t>
            </a:r>
          </a:p>
          <a:p>
            <a:pPr algn="ctr" marL="0" indent="0" lvl="0">
              <a:lnSpc>
                <a:spcPts val="3516"/>
              </a:lnSpc>
            </a:pPr>
            <a:r>
              <a:rPr lang="en-US" b="true" sz="3031" spc="-218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Web Dashboard</a:t>
            </a:r>
          </a:p>
          <a:p>
            <a:pPr algn="l" marL="0" indent="0" lvl="0">
              <a:lnSpc>
                <a:spcPts val="3516"/>
              </a:lnSpc>
            </a:pPr>
          </a:p>
          <a:p>
            <a:pPr algn="l" marL="0" indent="0" lvl="0">
              <a:lnSpc>
                <a:spcPts val="3516"/>
              </a:lnSpc>
            </a:pPr>
          </a:p>
          <a:p>
            <a:pPr algn="l" marL="0" indent="0" lvl="0">
              <a:lnSpc>
                <a:spcPts val="351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8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019175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470177"/>
            <a:ext cx="12224762" cy="62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5288" spc="-264" b="true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Applications and next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03627"/>
            <a:ext cx="9250353" cy="679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4"/>
              </a:lnSpc>
            </a:pPr>
            <a:r>
              <a:rPr lang="en-US" sz="2967" spc="-213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1. Brand-Specific Sizing</a:t>
            </a:r>
          </a:p>
          <a:p>
            <a:pPr algn="l">
              <a:lnSpc>
                <a:spcPts val="4154"/>
              </a:lnSpc>
            </a:pPr>
            <a:r>
              <a:rPr lang="en-US" sz="2967" spc="-2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Current:</a:t>
            </a:r>
          </a:p>
          <a:p>
            <a:pPr algn="l">
              <a:lnSpc>
                <a:spcPts val="4154"/>
              </a:lnSpc>
            </a:pPr>
            <a:r>
              <a:rPr lang="en-US" sz="2967" spc="-2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Waist = 84 cm</a:t>
            </a:r>
          </a:p>
          <a:p>
            <a:pPr algn="l">
              <a:lnSpc>
                <a:spcPts val="4154"/>
              </a:lnSpc>
            </a:pPr>
            <a:r>
              <a:rPr lang="en-US" sz="2967" spc="-2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Future:</a:t>
            </a:r>
          </a:p>
          <a:p>
            <a:pPr algn="l">
              <a:lnSpc>
                <a:spcPts val="4154"/>
              </a:lnSpc>
            </a:pPr>
            <a:r>
              <a:rPr lang="en-US" sz="2967" spc="-2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Brand A → M</a:t>
            </a:r>
          </a:p>
          <a:p>
            <a:pPr algn="l">
              <a:lnSpc>
                <a:spcPts val="4154"/>
              </a:lnSpc>
            </a:pPr>
            <a:r>
              <a:rPr lang="en-US" sz="2967" spc="-2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Brand B → L</a:t>
            </a:r>
          </a:p>
          <a:p>
            <a:pPr algn="l">
              <a:lnSpc>
                <a:spcPts val="4154"/>
              </a:lnSpc>
            </a:pPr>
            <a:r>
              <a:rPr lang="en-US" sz="2967" spc="-2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Brand C → 32</a:t>
            </a:r>
          </a:p>
          <a:p>
            <a:pPr algn="l">
              <a:lnSpc>
                <a:spcPts val="4154"/>
              </a:lnSpc>
            </a:pPr>
          </a:p>
          <a:p>
            <a:pPr algn="l">
              <a:lnSpc>
                <a:spcPts val="4154"/>
              </a:lnSpc>
              <a:spcBef>
                <a:spcPct val="0"/>
              </a:spcBef>
            </a:pPr>
            <a:r>
              <a:rPr lang="en-US" b="true" sz="2967" spc="-21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2. QR C</a:t>
            </a:r>
            <a:r>
              <a:rPr lang="en-US" b="true" sz="2967" spc="-21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ode Export</a:t>
            </a:r>
          </a:p>
          <a:p>
            <a:pPr algn="l">
              <a:lnSpc>
                <a:spcPts val="4154"/>
              </a:lnSpc>
              <a:spcBef>
                <a:spcPct val="0"/>
              </a:spcBef>
            </a:pPr>
            <a:r>
              <a:rPr lang="en-US" sz="2967" spc="-2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Measurement → QR Code → Smartphone</a:t>
            </a:r>
          </a:p>
          <a:p>
            <a:pPr algn="l">
              <a:lnSpc>
                <a:spcPts val="4154"/>
              </a:lnSpc>
              <a:spcBef>
                <a:spcPct val="0"/>
              </a:spcBef>
            </a:pPr>
            <a:r>
              <a:rPr lang="en-US" sz="2967" spc="-2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Users can save their measurements without manually typing them.</a:t>
            </a:r>
          </a:p>
          <a:p>
            <a:pPr algn="l">
              <a:lnSpc>
                <a:spcPts val="415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478171" y="2155977"/>
            <a:ext cx="6566044" cy="655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  <a:spcBef>
                <a:spcPct val="0"/>
              </a:spcBef>
            </a:pPr>
            <a:r>
              <a:rPr lang="en-US" b="true" sz="2661" spc="-19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3. Improved Calibrati</a:t>
            </a:r>
            <a:r>
              <a:rPr lang="en-US" b="true" sz="2661" spc="-19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on</a:t>
            </a:r>
          </a:p>
          <a:p>
            <a:pPr algn="l">
              <a:lnSpc>
                <a:spcPts val="3725"/>
              </a:lnSpc>
              <a:spcBef>
                <a:spcPct val="0"/>
              </a:spcBef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Future versions can improve:</a:t>
            </a:r>
          </a:p>
          <a:p>
            <a:pPr algn="l" marL="574592" indent="-287296" lvl="1">
              <a:lnSpc>
                <a:spcPts val="3725"/>
              </a:lnSpc>
              <a:spcBef>
                <a:spcPct val="0"/>
              </a:spcBef>
              <a:buFont typeface="Arial"/>
              <a:buChar char="•"/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Perspective correction</a:t>
            </a:r>
          </a:p>
          <a:p>
            <a:pPr algn="l" marL="574592" indent="-287296" lvl="1">
              <a:lnSpc>
                <a:spcPts val="3725"/>
              </a:lnSpc>
              <a:spcBef>
                <a:spcPct val="0"/>
              </a:spcBef>
              <a:buFont typeface="Arial"/>
              <a:buChar char="•"/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Camera calibration</a:t>
            </a:r>
          </a:p>
          <a:p>
            <a:pPr algn="l" marL="574592" indent="-287296" lvl="1">
              <a:lnSpc>
                <a:spcPts val="3725"/>
              </a:lnSpc>
              <a:spcBef>
                <a:spcPct val="0"/>
              </a:spcBef>
              <a:buFont typeface="Arial"/>
              <a:buChar char="•"/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positioning</a:t>
            </a:r>
          </a:p>
          <a:p>
            <a:pPr algn="l" marL="574592" indent="-287296" lvl="1">
              <a:lnSpc>
                <a:spcPts val="3725"/>
              </a:lnSpc>
              <a:spcBef>
                <a:spcPct val="0"/>
              </a:spcBef>
              <a:buFont typeface="Arial"/>
              <a:buChar char="•"/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Measurement accuracy</a:t>
            </a:r>
          </a:p>
          <a:p>
            <a:pPr algn="l">
              <a:lnSpc>
                <a:spcPts val="3725"/>
              </a:lnSpc>
              <a:spcBef>
                <a:spcPct val="0"/>
              </a:spcBef>
            </a:pPr>
          </a:p>
          <a:p>
            <a:pPr algn="l">
              <a:lnSpc>
                <a:spcPts val="3725"/>
              </a:lnSpc>
              <a:spcBef>
                <a:spcPct val="0"/>
              </a:spcBef>
            </a:pPr>
            <a:r>
              <a:rPr lang="en-US" b="true" sz="2661" spc="-19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4. Advanced Body Geometry</a:t>
            </a:r>
          </a:p>
          <a:p>
            <a:pPr algn="l">
              <a:lnSpc>
                <a:spcPts val="3725"/>
              </a:lnSpc>
              <a:spcBef>
                <a:spcPct val="0"/>
              </a:spcBef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Potential future improvements:</a:t>
            </a:r>
          </a:p>
          <a:p>
            <a:pPr algn="l" marL="574592" indent="-287296" lvl="1">
              <a:lnSpc>
                <a:spcPts val="3725"/>
              </a:lnSpc>
              <a:spcBef>
                <a:spcPct val="0"/>
              </a:spcBef>
              <a:buFont typeface="Arial"/>
              <a:buChar char="•"/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Additional camera viewpoints</a:t>
            </a:r>
          </a:p>
          <a:p>
            <a:pPr algn="l" marL="574592" indent="-287296" lvl="1">
              <a:lnSpc>
                <a:spcPts val="3725"/>
              </a:lnSpc>
              <a:spcBef>
                <a:spcPct val="0"/>
              </a:spcBef>
              <a:buFont typeface="Arial"/>
              <a:buChar char="•"/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Better depth estimation</a:t>
            </a:r>
          </a:p>
          <a:p>
            <a:pPr algn="l" marL="574592" indent="-287296" lvl="1">
              <a:lnSpc>
                <a:spcPts val="3725"/>
              </a:lnSpc>
              <a:spcBef>
                <a:spcPct val="0"/>
              </a:spcBef>
              <a:buFont typeface="Arial"/>
              <a:buChar char="•"/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More sophisticated body models</a:t>
            </a:r>
          </a:p>
          <a:p>
            <a:pPr algn="l" marL="574592" indent="-287296" lvl="1">
              <a:lnSpc>
                <a:spcPts val="3725"/>
              </a:lnSpc>
              <a:spcBef>
                <a:spcPct val="0"/>
              </a:spcBef>
              <a:buFont typeface="Arial"/>
              <a:buChar char="•"/>
            </a:pPr>
            <a:r>
              <a:rPr lang="en-US" sz="2661" spc="-1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ML-based measurement correction</a:t>
            </a:r>
          </a:p>
          <a:p>
            <a:pPr algn="l">
              <a:lnSpc>
                <a:spcPts val="372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9259" r="0" b="-1949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10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DAHUrEFdfow</dc:identifier>
  <dcterms:modified xsi:type="dcterms:W3CDTF">2011-08-01T06:04:30Z</dcterms:modified>
  <cp:revision>1</cp:revision>
  <dc:title>MDP - Smart Mirror</dc:title>
</cp:coreProperties>
</file>